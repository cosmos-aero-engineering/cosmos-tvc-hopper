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+ 한 줄 소개. "COSMOS, 항공우주공학 동아리 부장 ___입니다. 저희는 이론만 배우는 게 아니라 실물을 만들고 날립니다." (10초)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우리가 하는 일 3가지. 지난 학기에 이미 장비 2개를 완성했다는 점을 강조 — 신뢰. (25초)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학기 결과물 2개를 빠르게. 사진 가리키며 "이거 저희가 다 만든 겁니다." 설계-제작-실험-데이터 사이클 언급. (30초)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전환. "올해는 여기에 AI를 더합니다." 잠깐 멈춰 청중이 화면 읽게. SpaceX 로켓 착륙 비유. (25초)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호퍼가 뭔지. 오른쪽 그림 가리키며: 팬으로 밀고, 아래 핀 4개로 방향 잡고, 다리로 착지. 낙하산 아님. (35초)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어려운가. "세워놓은 연필 같아서 가만두면 넘어집니다. 컴퓨터가 1초에 수백 번 보정해야 서 있어요." (30초)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질문. "사람이 튜닝한 제어 vs AI가 배운 제어, 뭐가 나은지 실제로 비교합니다." 이게 우리만의 실험. (35초)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 방식 4단계 + 8~10주. 하드웨어 팀/소프트 팀 병렬. "관심 분야만 골라 들어오면 됩니다." (25초)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3개. "코딩 잘해야 하냐? 아니요. 납땜 해봤어야 하냐? 아니요. 가르칩니다." 여기서 눈 마주치기. (30초)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안전. 학부모·선생님도 듣는다는 가정. 구속 시험, 킬스위치, LiPo 수칙, 감독. 짧고 단호하게. (20초)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얻어가는 것 4개. 마지막 "대학 지원서에 쓸 진짜 프로젝트"에 힘주기. (20초)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합류 정보. 모임 요일/시간/장소, QR, "그냥 와도 환영"으로 마무리. "질문 있으면 끝나고 저한테." (15초)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926080"/>
            <a:ext cx="6858000" cy="685800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075920" y="-297180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COSMOS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청도대원학교 항공우주공학 동아리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설계하고, 만들고, 날린다.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프로젝트  ·  TVC 착륙 호퍼 × 강화학습(AI)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26–27학년도 1학기 · 동아리 설명회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206240"/>
            <a:ext cx="5669280" cy="566928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416052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COSMOS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하는 일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04088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53288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3134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실물을 만든다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6974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항공우주 하드웨어를 학생이 직접 설계·제작·시험한다. 이론만 배우는 동아리가 아니다.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04088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99592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7764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해봤다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605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학기에 로켓 모터 추력 측정 스탠드와 AEROVIEW 풍동을 완성해 실제 데이터를 얻었다.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704088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545896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395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더 간다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6235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학기는 대학 수준의 제어공학 실험에 인공지능(강화학습)을 접목한다.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2148840"/>
            <a:ext cx="3291840" cy="3977640"/>
          </a:xfrm>
          <a:prstGeom prst="roundRect">
            <a:avLst>
              <a:gd name="adj" fmla="val 1667"/>
            </a:avLst>
          </a:prstGeom>
          <a:solidFill>
            <a:srgbClr val="0A0E1A"/>
          </a:solidFill>
          <a:ln w="12700">
            <a:solidFill>
              <a:srgbClr val="2A3647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229600" y="2148840"/>
            <a:ext cx="3291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
</a:t>
            </a:r>
            <a:pPr algn="ctr"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학기 활동 / 팀 사진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572000"/>
            <a:ext cx="4937760" cy="493776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64440" y="45262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RECORD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학기, 우리가 만든 것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468880"/>
            <a:ext cx="4617720" cy="2148840"/>
          </a:xfrm>
          <a:prstGeom prst="roundRect">
            <a:avLst>
              <a:gd name="adj" fmla="val 2553"/>
            </a:avLst>
          </a:prstGeom>
          <a:solidFill>
            <a:srgbClr val="0A0E1A"/>
          </a:solidFill>
          <a:ln w="12700">
            <a:solidFill>
              <a:srgbClr val="2A3647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60120" y="2468880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
</a:t>
            </a:r>
            <a:pPr algn="ctr"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· 시험 장면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54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로켓 모터 추력 측정 스탠드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13892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고체 로켓 모터의 추력 곡선을 로드셀로 직접 측정. 점화부터 연소 종료까지 데이터 기록.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468880"/>
            <a:ext cx="4617720" cy="2148840"/>
          </a:xfrm>
          <a:prstGeom prst="roundRect">
            <a:avLst>
              <a:gd name="adj" fmla="val 2553"/>
            </a:avLst>
          </a:prstGeom>
          <a:solidFill>
            <a:srgbClr val="0A0E1A"/>
          </a:solidFill>
          <a:ln w="12700">
            <a:solidFill>
              <a:srgbClr val="2A3647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92240" y="2468880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
</a:t>
            </a:r>
            <a:pPr algn="ctr"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· 시험 장면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54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AEROVIEW 풍동 (Wind Tunnel)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513892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 흐름 속 모형에 걸리는 힘을 실측하는 장치를 자체 제작·운용.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→ 제작 → 실험 → 데이터. 전 과정을 우리 손으로.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743200"/>
            <a:ext cx="6035040" cy="603504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-278892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THIS SEMESTER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여기에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더한다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805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우주기업이 로켓을 세운 채로 착륙시키는 그 기술을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축소판으로 직접 만들고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강화학습(AI)이 사람이 튜닝한 제어보다 나은지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A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 검증한다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023360"/>
            <a:ext cx="5486400" cy="548640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64440" y="397764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TVC 착륙 호퍼 (Hopper)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SpaceX의 Grasshopper·Starhopper처럼 — 떠오르고 → 제자리 비행 → 다시 내려앉는다.</a:t>
            </a:r>
            <a:endParaRPr lang="en-US" sz="150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전동 덕티드팬(EDF)으로 추력을 자유롭게 조절.</a:t>
            </a:r>
            <a:endParaRPr lang="en-US" sz="150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배기 기류 속 제어핀 4개로 자세를 잡는다 = 추력벡터제어(TVC).</a:t>
            </a:r>
            <a:endParaRPr lang="en-US" sz="150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낙하산 회수가 아니라, 엔진으로 감속하며 다리로 직립 착지.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214884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265176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0" y="2651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09760" y="3291840"/>
            <a:ext cx="0" cy="1371600"/>
          </a:xfrm>
          <a:prstGeom prst="line">
            <a:avLst/>
          </a:prstGeom>
          <a:noFill/>
          <a:ln w="25400">
            <a:solidFill>
              <a:srgbClr val="5AC8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38360" y="3291840"/>
            <a:ext cx="0" cy="1371600"/>
          </a:xfrm>
          <a:prstGeom prst="line">
            <a:avLst/>
          </a:prstGeom>
          <a:noFill/>
          <a:ln w="25400">
            <a:solidFill>
              <a:srgbClr val="5AC8E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66960" y="3291840"/>
            <a:ext cx="0" cy="1371600"/>
          </a:xfrm>
          <a:prstGeom prst="line">
            <a:avLst/>
          </a:prstGeom>
          <a:noFill/>
          <a:ln w="25400">
            <a:solidFill>
              <a:srgbClr val="5AC8E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1041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추력 (하향)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81160" y="4709160"/>
            <a:ext cx="0" cy="36576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4709160"/>
            <a:ext cx="0" cy="36576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93808" y="4709160"/>
            <a:ext cx="0" cy="36576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95560" y="4709160"/>
            <a:ext cx="0" cy="36576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2396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제어핀 ×4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8092440" y="5120640"/>
            <a:ext cx="640080" cy="822960"/>
          </a:xfrm>
          <a:prstGeom prst="line">
            <a:avLst/>
          </a:prstGeom>
          <a:noFill/>
          <a:ln w="25400">
            <a:solidFill>
              <a:srgbClr val="EAF0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44200" y="5120640"/>
            <a:ext cx="640080" cy="822960"/>
          </a:xfrm>
          <a:prstGeom prst="line">
            <a:avLst/>
          </a:prstGeom>
          <a:noFill/>
          <a:ln w="25400">
            <a:solidFill>
              <a:srgbClr val="EAF0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5943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고정형 착륙 다리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5303520" cy="530352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" y="379476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원리 — 제트 위에 선 연필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4572000" cy="4023360"/>
          </a:xfrm>
          <a:prstGeom prst="roundRect">
            <a:avLst>
              <a:gd name="adj" fmla="val 204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468880"/>
            <a:ext cx="0" cy="3383280"/>
          </a:xfrm>
          <a:prstGeom prst="line">
            <a:avLst/>
          </a:prstGeom>
          <a:noFill/>
          <a:ln w="12700">
            <a:solidFill>
              <a:srgbClr val="2A364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rot="960000">
            <a:off x="2606040" y="2743200"/>
            <a:ext cx="640080" cy="2011680"/>
          </a:xfrm>
          <a:prstGeom prst="roundRect">
            <a:avLst>
              <a:gd name="adj" fmla="val 14286"/>
            </a:avLst>
          </a:prstGeom>
          <a:solidFill>
            <a:srgbClr val="1C2A3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4754880"/>
            <a:ext cx="640080" cy="1051560"/>
          </a:xfrm>
          <a:prstGeom prst="line">
            <a:avLst/>
          </a:prstGeom>
          <a:noFill/>
          <a:ln w="31750">
            <a:solidFill>
              <a:srgbClr val="5AC8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1920240" y="3017520"/>
            <a:ext cx="914400" cy="45720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기울면 →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핀이 기류를 꺾어 →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되돌린다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14884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532888"/>
            <a:ext cx="457200" cy="457200"/>
          </a:xfrm>
          <a:prstGeom prst="ellipse">
            <a:avLst/>
          </a:prstGeom>
          <a:solidFill>
            <a:srgbClr val="5AC8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2951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호버링 중엔 날개가 안 통한다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791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속도가 0에 가까워 공기력이 없다. 그래서 추력의 방향 자체를 꺾는다.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56616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3950208"/>
            <a:ext cx="457200" cy="457200"/>
          </a:xfrm>
          <a:prstGeom prst="ellipse">
            <a:avLst/>
          </a:prstGeom>
          <a:solidFill>
            <a:srgbClr val="5AC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7124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제어핀 4개 = Roll · Pitch · Yaw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0965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방향의 핀을 조합해 세 축의 자세를 만든다.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498348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5367528"/>
            <a:ext cx="457200" cy="457200"/>
          </a:xfrm>
          <a:prstGeom prst="ellipse">
            <a:avLst/>
          </a:prstGeom>
          <a:solidFill>
            <a:srgbClr val="5AC8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350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불안정한 시스템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513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가만두면 넘어진다. 1초에 수백 번 자동 보정해야 서 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3108960"/>
            <a:ext cx="6400800" cy="640080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78840" y="-3154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RESEARCH 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사람보다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제어할까?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방식 — PID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498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손으로 제어 게인을 튜닝한다. 검증된 방법, 하지만 반복 노동.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393192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— RL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498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안에서 AI가 스스로 제어 정책을 학습한다.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기체 · 같은 외란</a:t>
            </a:r>
            <a:pPr indent="0" marL="0">
              <a:buNone/>
            </a:pPr>
            <a:r>
              <a:rPr lang="en-US" sz="12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복원 시간, 오버슈트, 정확도를 정량 비교한다. 이것이 우리 보고서의 핵심 결과물.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4389120"/>
            <a:ext cx="5852160" cy="585216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434340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제작부터 검증까지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82496" y="2788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2496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8862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EDF·제어핀·구속 스탠드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840480"/>
            <a:ext cx="237744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56432" y="246888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98848" y="2788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9884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38862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환경 + AI 학습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6752" y="3840480"/>
            <a:ext cx="237744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72784" y="246888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2788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이식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38862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학습한 정책을 기체에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33104" y="3840480"/>
            <a:ext cx="237744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89136" y="246888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31552" y="2788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3155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38862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PID vs RL 정량 평가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8–10주  ·  하드웨어 팀과 소프트웨어 팀이 2·3단계를 병렬로 진행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5120640" cy="512064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24360" y="416052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THE TEAM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사람을 찾습니다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1E3038"/>
          </a:solidFill>
          <a:ln w="12700">
            <a:solidFill>
              <a:srgbClr val="5AC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기구 · 전자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94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3D프린팅, 조립, 배선, 납땜. 손으로 만드는 게 좋은 사람.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697480"/>
            <a:ext cx="457200" cy="457200"/>
          </a:xfrm>
          <a:prstGeom prst="ellipse">
            <a:avLst/>
          </a:prstGeom>
          <a:solidFill>
            <a:srgbClr val="1E3038"/>
          </a:solidFill>
          <a:ln w="12700">
            <a:solidFill>
              <a:srgbClr val="5AC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794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Python, 시뮬레이션, 강화학습. AI가 궁금한 사람.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33172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2697480"/>
            <a:ext cx="457200" cy="457200"/>
          </a:xfrm>
          <a:prstGeom prst="ellipse">
            <a:avLst/>
          </a:prstGeom>
          <a:solidFill>
            <a:srgbClr val="1E3038"/>
          </a:solidFill>
          <a:ln w="12700">
            <a:solidFill>
              <a:srgbClr val="5AC8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· 운영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794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정리, 안전 관리, 발표 자료. 프로젝트를 굴러가게 하는 사람.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잘 할 필요 없다. </a:t>
            </a:r>
            <a:pPr indent="0" marL="0">
              <a:buNone/>
            </a:pPr>
            <a:r>
              <a:rPr lang="en-US" sz="125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배우면서 한다 — 코딩은 AI 툴을 적극 활용하고, 납땜·CAD는 처음부터 가르친다.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743200"/>
            <a:ext cx="5852160" cy="585216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938760" y="-278892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안전은 타협하지 않는다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5603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4963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구속 상태 시험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8986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시험은 전부 기체를 고정한 채로. 자유 비행은 나중에.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402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4963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킬스위치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8986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물리 스위치 + 송신기 수동 정지. 사람이 항상 우선.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5262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4622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LiPo 배터리 수칙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8646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 용기 보관·충전, 1C 이하 충전, 손상 시 즉시 폐기.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5262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4622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회전체 방호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8646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흡·배기 방호망, 보안경, 지도교사 감독하에만 시험.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09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학기 로켓 모터 시험에서 쓴 안전 원칙을 그대로 확장한다.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023360"/>
            <a:ext cx="5486400" cy="548640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97764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COSMOS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얻어가는 것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4688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엔지니어링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535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제작 · 디버깅의 전 과정을 직접 경험한다.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2402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4688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제어공학 + AI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535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대학에서 배우는 내용을 1학기 먼저, 손으로 만지며.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4389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프로젝트 완주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8737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팀으로 8주짜리 프로젝트를 끝까지 끌고 가 본다.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1605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4389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포트폴리오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8737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기체 · 비교 데이터 · 발표 — 대학 지원서에 쓸 결과물.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3291840"/>
            <a:ext cx="6949440" cy="6949440"/>
          </a:xfrm>
          <a:prstGeom prst="ellipse">
            <a:avLst/>
          </a:prstGeom>
          <a:ln w="15875">
            <a:solidFill>
              <a:srgbClr val="3A2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04520" y="-333756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COME BUILD WITH US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우리와 만들자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___요일 ___시  ·  ___________ (실습실/장소)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58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8587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위챗 ____________  ·  담당 ____________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17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모임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451713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와도 환영 — 사전 지식 필요 없음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48495" y="3200400"/>
            <a:ext cx="1737360" cy="1737360"/>
          </a:xfrm>
          <a:prstGeom prst="roundRect">
            <a:avLst>
              <a:gd name="adj" fmla="val 3158"/>
            </a:avLst>
          </a:prstGeom>
          <a:solidFill>
            <a:srgbClr val="16202F"/>
          </a:solidFill>
          <a:ln w="12700">
            <a:solidFill>
              <a:srgbClr val="2A3647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9448495" y="3200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코드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(위챗 단톡)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COSMOS · 청도대원학교 항공우주공학 동아리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청도대원학교 항공우주공학 동아리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COSMOS</dc:creator>
  <cp:lastModifiedBy>COSMOS</cp:lastModifiedBy>
  <cp:revision>1</cp:revision>
  <dcterms:created xsi:type="dcterms:W3CDTF">2026-09-03T08:06:21Z</dcterms:created>
  <dcterms:modified xsi:type="dcterms:W3CDTF">2026-09-03T08:06:21Z</dcterms:modified>
</cp:coreProperties>
</file>